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21945600" cy="16459200"/>
  <p:notesSz cx="6858000" cy="9144000"/>
  <p:defaultTextStyle>
    <a:defPPr>
      <a:defRPr lang="en-US"/>
    </a:defPPr>
    <a:lvl1pPr marL="0" algn="l" defTabSz="1843431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1pPr>
    <a:lvl2pPr marL="921715" algn="l" defTabSz="1843431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2pPr>
    <a:lvl3pPr marL="1843431" algn="l" defTabSz="1843431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3pPr>
    <a:lvl4pPr marL="2765146" algn="l" defTabSz="1843431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4pPr>
    <a:lvl5pPr marL="3686861" algn="l" defTabSz="1843431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5pPr>
    <a:lvl6pPr marL="4608576" algn="l" defTabSz="1843431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6pPr>
    <a:lvl7pPr marL="5530291" algn="l" defTabSz="1843431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7pPr>
    <a:lvl8pPr marL="6452007" algn="l" defTabSz="1843431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8pPr>
    <a:lvl9pPr marL="7373722" algn="l" defTabSz="1843431" rtl="0" eaLnBrk="1" latinLnBrk="0" hangingPunct="1">
      <a:defRPr sz="362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84" userDrawn="1">
          <p15:clr>
            <a:srgbClr val="A4A3A4"/>
          </p15:clr>
        </p15:guide>
        <p15:guide id="2" pos="6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51F"/>
    <a:srgbClr val="FDAA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61EA70-38C8-427E-8079-FB75661272C7}" v="1" dt="2025-12-03T00:05:1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4" autoAdjust="0"/>
    <p:restoredTop sz="94655"/>
  </p:normalViewPr>
  <p:slideViewPr>
    <p:cSldViewPr snapToGrid="0" snapToObjects="1">
      <p:cViewPr>
        <p:scale>
          <a:sx n="66" d="100"/>
          <a:sy n="66" d="100"/>
        </p:scale>
        <p:origin x="402" y="-1896"/>
      </p:cViewPr>
      <p:guideLst>
        <p:guide orient="horz" pos="5184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E9724D-6106-B84D-AD73-88AB3BCE741D}" type="datetimeFigureOut">
              <a:rPr lang="en-US" smtClean="0"/>
              <a:t>12/3/2025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8A78A6-91B1-A94B-8013-D04A98434E6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038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8A78A6-91B1-A94B-8013-D04A98434E6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3357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earch Poster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 descr="Vertical Divider"/>
          <p:cNvCxnSpPr/>
          <p:nvPr userDrawn="1"/>
        </p:nvCxnSpPr>
        <p:spPr bwMode="auto">
          <a:xfrm>
            <a:off x="5592763" y="3371190"/>
            <a:ext cx="0" cy="1143000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9" name="Straight Connector 9"/>
          <p:cNvCxnSpPr>
            <a:cxnSpLocks noChangeShapeType="1"/>
          </p:cNvCxnSpPr>
          <p:nvPr userDrawn="1"/>
        </p:nvCxnSpPr>
        <p:spPr bwMode="auto">
          <a:xfrm>
            <a:off x="5653882" y="4496148"/>
            <a:ext cx="457200" cy="45720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cxnSp>
        <p:nvCxnSpPr>
          <p:cNvPr id="10" name="Straight Connector 9" descr="Vertical Divider"/>
          <p:cNvCxnSpPr/>
          <p:nvPr userDrawn="1"/>
        </p:nvCxnSpPr>
        <p:spPr bwMode="auto">
          <a:xfrm>
            <a:off x="10972800" y="3371190"/>
            <a:ext cx="0" cy="1143000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11" name="Straight Connector 10" descr="Vertical Divider"/>
          <p:cNvCxnSpPr/>
          <p:nvPr userDrawn="1"/>
        </p:nvCxnSpPr>
        <p:spPr bwMode="auto">
          <a:xfrm>
            <a:off x="16352838" y="3371190"/>
            <a:ext cx="0" cy="1143000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oval" w="med" len="med"/>
            <a:tailEnd type="oval" w="med" len="med"/>
          </a:ln>
          <a:effectLst/>
        </p:spPr>
      </p:cxnSp>
      <p:sp>
        <p:nvSpPr>
          <p:cNvPr id="12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57200" y="3429830"/>
            <a:ext cx="4899025" cy="7364069"/>
          </a:xfrm>
          <a:prstGeom prst="rect">
            <a:avLst/>
          </a:prstGeom>
        </p:spPr>
        <p:txBody>
          <a:bodyPr/>
          <a:lstStyle>
            <a:lvl1pPr marL="0" indent="-228600">
              <a:lnSpc>
                <a:spcPts val="23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  <a:latin typeface="Arial" charset="0"/>
              </a:defRPr>
            </a:lvl1pPr>
            <a:lvl2pPr marL="457200" indent="-228600">
              <a:lnSpc>
                <a:spcPts val="2300"/>
              </a:lnSpc>
              <a:spcBef>
                <a:spcPts val="0"/>
              </a:spcBef>
              <a:buClr>
                <a:schemeClr val="tx2"/>
              </a:buClr>
              <a:buSzPct val="100000"/>
              <a:defRPr sz="1400" baseline="0">
                <a:solidFill>
                  <a:schemeClr val="tx1"/>
                </a:solidFill>
                <a:latin typeface="Arial" charset="0"/>
              </a:defRPr>
            </a:lvl2pPr>
            <a:lvl3pPr marL="68580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3pPr>
            <a:lvl4pPr marL="82296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4pPr>
            <a:lvl5pPr marL="96012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tabLst/>
              <a:defRPr sz="14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3" name="Picture Placeholder 2" descr="Photo alt tag goes here"/>
          <p:cNvSpPr>
            <a:spLocks noGrp="1"/>
          </p:cNvSpPr>
          <p:nvPr>
            <p:ph type="pic" sz="quarter" idx="16"/>
          </p:nvPr>
        </p:nvSpPr>
        <p:spPr>
          <a:xfrm>
            <a:off x="457200" y="11043369"/>
            <a:ext cx="4899025" cy="372618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14" name="Picture Placeholder 2" descr="Photo alt tag goes here"/>
          <p:cNvSpPr>
            <a:spLocks noGrp="1"/>
          </p:cNvSpPr>
          <p:nvPr>
            <p:ph type="pic" sz="quarter" idx="17"/>
          </p:nvPr>
        </p:nvSpPr>
        <p:spPr>
          <a:xfrm>
            <a:off x="16597312" y="8940663"/>
            <a:ext cx="4899025" cy="3726180"/>
          </a:xfrm>
          <a:prstGeom prst="rect">
            <a:avLst/>
          </a:prstGeom>
          <a:solidFill>
            <a:schemeClr val="bg2">
              <a:lumMod val="85000"/>
            </a:schemeClr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pPr mar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15" name="Content Placeholder 9"/>
          <p:cNvSpPr>
            <a:spLocks noGrp="1"/>
          </p:cNvSpPr>
          <p:nvPr>
            <p:ph sz="quarter" idx="18" hasCustomPrompt="1"/>
          </p:nvPr>
        </p:nvSpPr>
        <p:spPr>
          <a:xfrm>
            <a:off x="5837237" y="3429829"/>
            <a:ext cx="4899025" cy="1133972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23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  <a:latin typeface="Arial" charset="0"/>
              </a:defRPr>
            </a:lvl1pPr>
            <a:lvl2pPr marL="457200" indent="-228600">
              <a:lnSpc>
                <a:spcPts val="2300"/>
              </a:lnSpc>
              <a:spcBef>
                <a:spcPts val="0"/>
              </a:spcBef>
              <a:buClr>
                <a:schemeClr val="tx2"/>
              </a:buClr>
              <a:defRPr sz="1400" baseline="0">
                <a:solidFill>
                  <a:schemeClr val="tx1"/>
                </a:solidFill>
                <a:latin typeface="Arial" charset="0"/>
              </a:defRPr>
            </a:lvl2pPr>
            <a:lvl3pPr marL="68580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3pPr>
            <a:lvl4pPr marL="800100" indent="-11430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4pPr>
            <a:lvl5pPr marL="1143000" indent="-22860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quarter" idx="19" hasCustomPrompt="1"/>
          </p:nvPr>
        </p:nvSpPr>
        <p:spPr>
          <a:xfrm>
            <a:off x="11209339" y="3431561"/>
            <a:ext cx="4899025" cy="3487882"/>
          </a:xfrm>
          <a:prstGeom prst="rect">
            <a:avLst/>
          </a:prstGeom>
        </p:spPr>
        <p:txBody>
          <a:bodyPr/>
          <a:lstStyle>
            <a:lvl1pPr>
              <a:lnSpc>
                <a:spcPts val="2300"/>
              </a:lnSpc>
              <a:spcBef>
                <a:spcPts val="0"/>
              </a:spcBef>
              <a:defRPr sz="14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457200" indent="-228600">
              <a:lnSpc>
                <a:spcPts val="2300"/>
              </a:lnSpc>
              <a:spcBef>
                <a:spcPts val="0"/>
              </a:spcBef>
              <a:buClr>
                <a:schemeClr val="accent1"/>
              </a:buClr>
              <a:defRPr sz="1400" baseline="0">
                <a:solidFill>
                  <a:schemeClr val="tx1"/>
                </a:solidFill>
                <a:latin typeface="Arial" charset="0"/>
              </a:defRPr>
            </a:lvl2pPr>
            <a:lvl3pPr marL="68580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3pPr>
            <a:lvl4pPr marL="82296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4pPr>
            <a:lvl5pPr marL="96012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7" name="Content Placeholder 9"/>
          <p:cNvSpPr>
            <a:spLocks noGrp="1"/>
          </p:cNvSpPr>
          <p:nvPr>
            <p:ph sz="quarter" idx="20" hasCustomPrompt="1"/>
          </p:nvPr>
        </p:nvSpPr>
        <p:spPr>
          <a:xfrm>
            <a:off x="16597312" y="3429830"/>
            <a:ext cx="4899025" cy="5097947"/>
          </a:xfrm>
          <a:prstGeom prst="rect">
            <a:avLst/>
          </a:prstGeom>
        </p:spPr>
        <p:txBody>
          <a:bodyPr/>
          <a:lstStyle>
            <a:lvl1pPr>
              <a:lnSpc>
                <a:spcPts val="2300"/>
              </a:lnSpc>
              <a:spcBef>
                <a:spcPts val="0"/>
              </a:spcBef>
              <a:defRPr sz="14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457200" indent="-228600">
              <a:lnSpc>
                <a:spcPts val="2300"/>
              </a:lnSpc>
              <a:spcBef>
                <a:spcPts val="0"/>
              </a:spcBef>
              <a:buClr>
                <a:schemeClr val="tx2"/>
              </a:buClr>
              <a:defRPr sz="1400" baseline="0">
                <a:solidFill>
                  <a:schemeClr val="tx1"/>
                </a:solidFill>
                <a:latin typeface="Arial" charset="0"/>
              </a:defRPr>
            </a:lvl2pPr>
            <a:lvl3pPr marL="68580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3pPr>
            <a:lvl4pPr marL="82296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4pPr>
            <a:lvl5pPr marL="96012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8" name="Content Placeholder 9"/>
          <p:cNvSpPr>
            <a:spLocks noGrp="1"/>
          </p:cNvSpPr>
          <p:nvPr>
            <p:ph sz="quarter" idx="21" hasCustomPrompt="1"/>
          </p:nvPr>
        </p:nvSpPr>
        <p:spPr>
          <a:xfrm>
            <a:off x="16597312" y="12904441"/>
            <a:ext cx="4899025" cy="1924743"/>
          </a:xfrm>
          <a:prstGeom prst="rect">
            <a:avLst/>
          </a:prstGeom>
        </p:spPr>
        <p:txBody>
          <a:bodyPr/>
          <a:lstStyle>
            <a:lvl1pPr>
              <a:lnSpc>
                <a:spcPts val="2300"/>
              </a:lnSpc>
              <a:spcBef>
                <a:spcPts val="0"/>
              </a:spcBef>
              <a:defRPr sz="14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457200" indent="-228600">
              <a:lnSpc>
                <a:spcPts val="2300"/>
              </a:lnSpc>
              <a:spcBef>
                <a:spcPts val="0"/>
              </a:spcBef>
              <a:buClr>
                <a:schemeClr val="tx2"/>
              </a:buClr>
              <a:defRPr sz="1400" baseline="0">
                <a:solidFill>
                  <a:schemeClr val="tx1"/>
                </a:solidFill>
                <a:latin typeface="Arial" charset="0"/>
              </a:defRPr>
            </a:lvl2pPr>
            <a:lvl3pPr marL="68580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3pPr>
            <a:lvl4pPr marL="82296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4pPr>
            <a:lvl5pPr marL="96012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19" name="Chart Placeholder 23"/>
          <p:cNvSpPr>
            <a:spLocks noGrp="1"/>
          </p:cNvSpPr>
          <p:nvPr>
            <p:ph type="chart" sz="quarter" idx="22" hasCustomPrompt="1"/>
          </p:nvPr>
        </p:nvSpPr>
        <p:spPr>
          <a:xfrm>
            <a:off x="11275218" y="7345217"/>
            <a:ext cx="4833146" cy="347106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  <a:lvl2pPr marL="457200" indent="-228600">
              <a:lnSpc>
                <a:spcPts val="2300"/>
              </a:lnSpc>
              <a:spcBef>
                <a:spcPts val="0"/>
              </a:spcBef>
              <a:buClr>
                <a:schemeClr val="tx2"/>
              </a:buClr>
              <a:defRPr sz="1400">
                <a:solidFill>
                  <a:schemeClr val="tx1"/>
                </a:solidFill>
              </a:defRPr>
            </a:lvl2pPr>
            <a:lvl3pPr marL="68580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>
                <a:solidFill>
                  <a:schemeClr val="tx1"/>
                </a:solidFill>
              </a:defRPr>
            </a:lvl3pPr>
            <a:lvl4pPr marL="82296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>
                <a:solidFill>
                  <a:schemeClr val="tx1"/>
                </a:solidFill>
              </a:defRPr>
            </a:lvl4pPr>
            <a:lvl5pPr marL="96012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>
                <a:solidFill>
                  <a:schemeClr val="tx1"/>
                </a:solidFill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Fourth level</a:t>
            </a:r>
          </a:p>
          <a:p>
            <a:endParaRPr lang="en-US" dirty="0"/>
          </a:p>
        </p:txBody>
      </p:sp>
      <p:sp>
        <p:nvSpPr>
          <p:cNvPr id="20" name="Content Placeholder 9"/>
          <p:cNvSpPr>
            <a:spLocks noGrp="1"/>
          </p:cNvSpPr>
          <p:nvPr>
            <p:ph sz="quarter" idx="23" hasCustomPrompt="1"/>
          </p:nvPr>
        </p:nvSpPr>
        <p:spPr>
          <a:xfrm>
            <a:off x="11275218" y="11278949"/>
            <a:ext cx="4899025" cy="3570115"/>
          </a:xfrm>
          <a:prstGeom prst="rect">
            <a:avLst/>
          </a:prstGeom>
        </p:spPr>
        <p:txBody>
          <a:bodyPr/>
          <a:lstStyle>
            <a:lvl1pPr>
              <a:lnSpc>
                <a:spcPts val="2300"/>
              </a:lnSpc>
              <a:spcBef>
                <a:spcPts val="0"/>
              </a:spcBef>
              <a:defRPr sz="1400" baseline="0">
                <a:solidFill>
                  <a:schemeClr val="bg1">
                    <a:lumMod val="50000"/>
                  </a:schemeClr>
                </a:solidFill>
                <a:latin typeface="Arial" charset="0"/>
              </a:defRPr>
            </a:lvl1pPr>
            <a:lvl2pPr marL="457200" indent="-228600">
              <a:lnSpc>
                <a:spcPts val="2300"/>
              </a:lnSpc>
              <a:spcBef>
                <a:spcPts val="0"/>
              </a:spcBef>
              <a:buClr>
                <a:schemeClr val="tx2"/>
              </a:buClr>
              <a:defRPr sz="1400" baseline="0">
                <a:solidFill>
                  <a:schemeClr val="tx1"/>
                </a:solidFill>
                <a:latin typeface="Arial" charset="0"/>
              </a:defRPr>
            </a:lvl2pPr>
            <a:lvl3pPr marL="68580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3pPr>
            <a:lvl4pPr marL="82296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4pPr>
            <a:lvl5pPr marL="960120" indent="-137160">
              <a:lnSpc>
                <a:spcPts val="23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System Font Regular"/>
              <a:buChar char="-"/>
              <a:defRPr sz="1400" baseline="0">
                <a:solidFill>
                  <a:schemeClr val="tx1"/>
                </a:solidFill>
                <a:latin typeface="Arial" charset="0"/>
              </a:defRPr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587378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184" userDrawn="1">
          <p15:clr>
            <a:srgbClr val="FBAE40"/>
          </p15:clr>
        </p15:guide>
        <p15:guide id="2" pos="691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171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6" descr="alt=&quot;&quot;"/>
          <p:cNvSpPr>
            <a:spLocks noChangeArrowheads="1"/>
          </p:cNvSpPr>
          <p:nvPr userDrawn="1"/>
        </p:nvSpPr>
        <p:spPr bwMode="auto">
          <a:xfrm>
            <a:off x="0" y="15204831"/>
            <a:ext cx="21945600" cy="1254369"/>
          </a:xfrm>
          <a:prstGeom prst="rect">
            <a:avLst/>
          </a:prstGeom>
          <a:solidFill>
            <a:srgbClr val="005BBB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450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8" name="Rectangle 36" descr="alt=&quot;&quot;"/>
          <p:cNvSpPr>
            <a:spLocks noChangeArrowheads="1"/>
          </p:cNvSpPr>
          <p:nvPr userDrawn="1"/>
        </p:nvSpPr>
        <p:spPr bwMode="auto">
          <a:xfrm>
            <a:off x="0" y="0"/>
            <a:ext cx="21945600" cy="2743200"/>
          </a:xfrm>
          <a:prstGeom prst="rect">
            <a:avLst/>
          </a:prstGeom>
          <a:solidFill>
            <a:srgbClr val="005BBB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eaLnBrk="0" hangingPunct="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eaLnBrk="1" hangingPunct="1">
              <a:defRPr/>
            </a:pPr>
            <a:endParaRPr lang="en-US" altLang="en-US" sz="1450" b="0" i="0" baseline="0" dirty="0">
              <a:solidFill>
                <a:schemeClr val="tx1"/>
              </a:solidFill>
              <a:latin typeface="Arial" charset="0"/>
              <a:ea typeface="Arial" charset="0"/>
            </a:endParaRPr>
          </a:p>
        </p:txBody>
      </p:sp>
      <p:sp>
        <p:nvSpPr>
          <p:cNvPr id="2" name="Rectangle 1" descr="alt=&quot;&quot;"/>
          <p:cNvSpPr/>
          <p:nvPr userDrawn="1"/>
        </p:nvSpPr>
        <p:spPr>
          <a:xfrm>
            <a:off x="-1" y="2628900"/>
            <a:ext cx="21945601" cy="1306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15" dirty="0"/>
          </a:p>
        </p:txBody>
      </p:sp>
      <p:pic>
        <p:nvPicPr>
          <p:cNvPr id="3" name="Picture 2" descr="UB Crest"/>
          <p:cNvPicPr>
            <a:picLocks noChangeAspect="1"/>
          </p:cNvPicPr>
          <p:nvPr userDrawn="1"/>
        </p:nvPicPr>
        <p:blipFill rotWithShape="1">
          <a:blip r:embed="rId4">
            <a:alphaModFix amt="4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5" b="40121"/>
          <a:stretch/>
        </p:blipFill>
        <p:spPr>
          <a:xfrm>
            <a:off x="16095666" y="0"/>
            <a:ext cx="4670840" cy="2628480"/>
          </a:xfrm>
          <a:prstGeom prst="rect">
            <a:avLst/>
          </a:prstGeom>
        </p:spPr>
      </p:pic>
      <p:pic>
        <p:nvPicPr>
          <p:cNvPr id="4" name="Picture 3" descr="University at Buffalo, The State University of New York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366" y="15577373"/>
            <a:ext cx="6797706" cy="504141"/>
          </a:xfrm>
          <a:prstGeom prst="rect">
            <a:avLst/>
          </a:prstGeom>
        </p:spPr>
      </p:pic>
      <p:cxnSp>
        <p:nvCxnSpPr>
          <p:cNvPr id="7" name="Straight Connector 6" descr="alt=&quot;&quot;"/>
          <p:cNvCxnSpPr/>
          <p:nvPr userDrawn="1"/>
        </p:nvCxnSpPr>
        <p:spPr>
          <a:xfrm>
            <a:off x="16348432" y="15418732"/>
            <a:ext cx="0" cy="794085"/>
          </a:xfrm>
          <a:prstGeom prst="line">
            <a:avLst/>
          </a:prstGeom>
          <a:ln w="1587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49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sahilshi@buffalo.edu" TargetMode="External"/><Relationship Id="rId5" Type="http://schemas.openxmlformats.org/officeDocument/2006/relationships/hyperlink" Target="mailto:aprabhu5@buffalo.edu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github.com/unitreerobotics/unitree_sdk2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robot dog with a ball&#10;&#10;AI-generated content may be incorrect.">
            <a:extLst>
              <a:ext uri="{FF2B5EF4-FFF2-40B4-BE49-F238E27FC236}">
                <a16:creationId xmlns:a16="http://schemas.microsoft.com/office/drawing/2014/main" id="{E383D543-AE69-5C16-F2D5-C12B27207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331" y="7492483"/>
            <a:ext cx="4769618" cy="3846830"/>
          </a:xfrm>
          <a:prstGeom prst="rect">
            <a:avLst/>
          </a:prstGeom>
        </p:spPr>
      </p:pic>
      <p:cxnSp>
        <p:nvCxnSpPr>
          <p:cNvPr id="25" name="Horizontal Section Divider" descr="Horizontal Divider">
            <a:extLst>
              <a:ext uri="{FF2B5EF4-FFF2-40B4-BE49-F238E27FC236}">
                <a16:creationId xmlns:a16="http://schemas.microsoft.com/office/drawing/2014/main" id="{7C40BA17-63C5-AF95-E76E-8B35254C5BE3}"/>
              </a:ext>
            </a:extLst>
          </p:cNvPr>
          <p:cNvCxnSpPr>
            <a:cxnSpLocks/>
          </p:cNvCxnSpPr>
          <p:nvPr/>
        </p:nvCxnSpPr>
        <p:spPr bwMode="auto">
          <a:xfrm>
            <a:off x="483331" y="10198460"/>
            <a:ext cx="4714786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6A1563C5-5BFA-8222-76B8-D6A6F53FDC5C}"/>
              </a:ext>
            </a:extLst>
          </p:cNvPr>
          <p:cNvSpPr/>
          <p:nvPr/>
        </p:nvSpPr>
        <p:spPr>
          <a:xfrm>
            <a:off x="10890300" y="3149600"/>
            <a:ext cx="306020" cy="1191260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CC069D-99C7-A9E7-E472-A6C173B10DEF}"/>
              </a:ext>
            </a:extLst>
          </p:cNvPr>
          <p:cNvSpPr txBox="1"/>
          <p:nvPr/>
        </p:nvSpPr>
        <p:spPr>
          <a:xfrm>
            <a:off x="5804214" y="3092593"/>
            <a:ext cx="10362979" cy="2618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2300"/>
              </a:lnSpc>
              <a:spcAft>
                <a:spcPts val="600"/>
              </a:spcAft>
              <a:defRPr sz="1600" b="1">
                <a:solidFill>
                  <a:srgbClr val="005BAA"/>
                </a:solidFill>
              </a:defRPr>
            </a:pPr>
            <a:r>
              <a:rPr lang="en-US" sz="2000" dirty="0"/>
              <a:t>Background &amp; Challenges</a:t>
            </a:r>
          </a:p>
          <a:p>
            <a:pPr marL="54864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751F"/>
                </a:solidFill>
                <a:ea typeface="ＭＳ Ｐゴシック" charset="-128"/>
              </a:rPr>
              <a:t>2D Vision</a:t>
            </a:r>
            <a:r>
              <a:rPr lang="en-US" sz="2000" b="1" dirty="0">
                <a:ea typeface="ＭＳ Ｐゴシック" charset="-128"/>
              </a:rPr>
              <a:t> </a:t>
            </a:r>
            <a:r>
              <a:rPr lang="en-US" sz="2000" dirty="0">
                <a:ea typeface="ＭＳ Ｐゴシック" charset="-128"/>
              </a:rPr>
              <a:t>- In</a:t>
            </a:r>
            <a:r>
              <a:rPr lang="en-US" sz="2000" dirty="0"/>
              <a:t>accurate estimation of object distance</a:t>
            </a:r>
          </a:p>
          <a:p>
            <a:pPr marL="54864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751F"/>
                </a:solidFill>
              </a:rPr>
              <a:t>Non-Linear Dynamics &amp; Leg Control </a:t>
            </a:r>
            <a:r>
              <a:rPr lang="en-US" sz="2000" dirty="0"/>
              <a:t>- Translating high-level velocity commands into low-level joint torque</a:t>
            </a:r>
            <a:endParaRPr lang="en-US" sz="2000" b="1" dirty="0">
              <a:solidFill>
                <a:srgbClr val="FF751F"/>
              </a:solidFill>
              <a:ea typeface="ＭＳ Ｐゴシック" charset="-128"/>
            </a:endParaRPr>
          </a:p>
          <a:p>
            <a:pPr marL="54864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751F"/>
                </a:solidFill>
                <a:ea typeface="ＭＳ Ｐゴシック" charset="-128"/>
              </a:rPr>
              <a:t>Tightly Coupled Architecture</a:t>
            </a:r>
            <a:r>
              <a:rPr lang="en-US" sz="2000" b="1" dirty="0">
                <a:ea typeface="ＭＳ Ｐゴシック" charset="-128"/>
              </a:rPr>
              <a:t> </a:t>
            </a:r>
            <a:r>
              <a:rPr lang="en-US" sz="2000" dirty="0">
                <a:ea typeface="ＭＳ Ｐゴシック" charset="-128"/>
              </a:rPr>
              <a:t>- </a:t>
            </a:r>
            <a:r>
              <a:rPr lang="en-US" sz="2000" dirty="0"/>
              <a:t>Vision commands outpace motion control, causing the robot to use stale target data.</a:t>
            </a:r>
          </a:p>
          <a:p>
            <a:pPr marL="548640" indent="-285750" algn="just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751F"/>
                </a:solidFill>
              </a:rPr>
              <a:t>Intrinsic Camera Calibration </a:t>
            </a:r>
            <a:r>
              <a:rPr lang="en-US" sz="2000" dirty="0"/>
              <a:t>– Accurate calculation of focal length are essential to avoid errors in real-world distance and pose calculations.</a:t>
            </a:r>
            <a:endParaRPr lang="en-US" sz="2000" b="1" dirty="0">
              <a:solidFill>
                <a:srgbClr val="FF751F"/>
              </a:solidFill>
              <a:ea typeface="ＭＳ Ｐゴシック" charset="-128"/>
            </a:endParaRPr>
          </a:p>
        </p:txBody>
      </p:sp>
      <p:sp>
        <p:nvSpPr>
          <p:cNvPr id="88" name="Poster Title"/>
          <p:cNvSpPr>
            <a:spLocks noChangeArrowheads="1"/>
          </p:cNvSpPr>
          <p:nvPr/>
        </p:nvSpPr>
        <p:spPr bwMode="auto">
          <a:xfrm>
            <a:off x="584250" y="509179"/>
            <a:ext cx="20612100" cy="1584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45622" tIns="22807" rIns="45622" bIns="22807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37931725" indent="-37474525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>
              <a:defRPr/>
            </a:pPr>
            <a:r>
              <a:rPr lang="en-US" sz="4800" dirty="0">
                <a:solidFill>
                  <a:schemeClr val="bg1"/>
                </a:solidFill>
                <a:latin typeface="+mj-lt"/>
              </a:rPr>
              <a:t>BOLT- Behavioral Object Locomotion &amp; Tracking</a:t>
            </a:r>
            <a:endParaRPr lang="en-US" altLang="en-US" sz="2400" dirty="0">
              <a:solidFill>
                <a:srgbClr val="FFFFFF"/>
              </a:solidFill>
              <a:latin typeface="+mn-lt"/>
              <a:ea typeface="Arial" charset="0"/>
            </a:endParaRPr>
          </a:p>
          <a:p>
            <a:pPr>
              <a:defRPr/>
            </a:pPr>
            <a:r>
              <a:rPr lang="en-US" altLang="en-US" sz="2800" dirty="0">
                <a:solidFill>
                  <a:srgbClr val="FFFFFF"/>
                </a:solidFill>
                <a:latin typeface="+mn-lt"/>
                <a:ea typeface="Arial" charset="0"/>
              </a:rPr>
              <a:t>For Unitree GO2 Robot</a:t>
            </a:r>
          </a:p>
          <a:p>
            <a:pPr>
              <a:defRPr/>
            </a:pPr>
            <a:r>
              <a:rPr lang="en-US" altLang="en-US" sz="2400" dirty="0">
                <a:solidFill>
                  <a:srgbClr val="FFFFFF"/>
                </a:solidFill>
                <a:latin typeface="+mn-lt"/>
                <a:ea typeface="Arial" charset="0"/>
              </a:rPr>
              <a:t>Atharva Prabhu, Sahil Sawant (EAS 563 AI Capstone under Prof. David Doermann)</a:t>
            </a:r>
          </a:p>
        </p:txBody>
      </p:sp>
      <p:sp>
        <p:nvSpPr>
          <p:cNvPr id="7" name="Introduction Textbox"/>
          <p:cNvSpPr txBox="1">
            <a:spLocks noChangeArrowheads="1"/>
          </p:cNvSpPr>
          <p:nvPr/>
        </p:nvSpPr>
        <p:spPr bwMode="auto">
          <a:xfrm>
            <a:off x="403566" y="3118667"/>
            <a:ext cx="5062215" cy="4372992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algn="just">
              <a:lnSpc>
                <a:spcPts val="2300"/>
              </a:lnSpc>
              <a:spcAft>
                <a:spcPts val="600"/>
              </a:spcAft>
            </a:pPr>
            <a:r>
              <a:rPr lang="en-US" sz="2000" b="1" dirty="0">
                <a:solidFill>
                  <a:srgbClr val="005BBB"/>
                </a:solidFill>
                <a:latin typeface="+mn-lt"/>
              </a:rPr>
              <a:t>The Problem</a:t>
            </a:r>
          </a:p>
          <a:p>
            <a:pPr algn="just"/>
            <a:r>
              <a:rPr lang="en-US" sz="1800" dirty="0">
                <a:latin typeface="+mn-lt"/>
              </a:rPr>
              <a:t>Quadruped robots require </a:t>
            </a:r>
            <a:r>
              <a:rPr lang="en-US" sz="1800" b="1" dirty="0">
                <a:solidFill>
                  <a:srgbClr val="FF751F"/>
                </a:solidFill>
                <a:latin typeface="+mn-lt"/>
              </a:rPr>
              <a:t>robust vision-guided navigation</a:t>
            </a:r>
            <a:r>
              <a:rPr lang="en-US" sz="1800" dirty="0">
                <a:latin typeface="+mn-lt"/>
              </a:rPr>
              <a:t> to perform autonomous tasks in complex, real-world environments. Unitree Go2, while highly mobile, does not natively provide the </a:t>
            </a:r>
            <a:r>
              <a:rPr lang="en-US" sz="1800" b="1" dirty="0">
                <a:solidFill>
                  <a:srgbClr val="FF751F"/>
                </a:solidFill>
                <a:latin typeface="+mn-lt"/>
              </a:rPr>
              <a:t>autonomous vision-to-motion control</a:t>
            </a:r>
            <a:r>
              <a:rPr lang="en-US" sz="1800" dirty="0">
                <a:latin typeface="+mn-lt"/>
              </a:rPr>
              <a:t> required to execute prolonged and responsive </a:t>
            </a:r>
            <a:r>
              <a:rPr lang="en-US" sz="1800" b="1" dirty="0">
                <a:solidFill>
                  <a:srgbClr val="FF751F"/>
                </a:solidFill>
                <a:latin typeface="+mn-lt"/>
              </a:rPr>
              <a:t>behavioral following</a:t>
            </a:r>
            <a:r>
              <a:rPr lang="en-US" sz="1800" dirty="0">
                <a:latin typeface="+mn-lt"/>
              </a:rPr>
              <a:t> of dynamic targets.</a:t>
            </a:r>
          </a:p>
          <a:p>
            <a:pPr algn="just"/>
            <a:endParaRPr lang="en-US" sz="1800" b="1" dirty="0">
              <a:solidFill>
                <a:srgbClr val="005BBB"/>
              </a:solidFill>
              <a:latin typeface="+mn-lt"/>
            </a:endParaRPr>
          </a:p>
          <a:p>
            <a:pPr algn="just"/>
            <a:r>
              <a:rPr lang="en-US" sz="2000" b="1" dirty="0">
                <a:solidFill>
                  <a:srgbClr val="005BBB"/>
                </a:solidFill>
                <a:latin typeface="+mn-lt"/>
              </a:rPr>
              <a:t>Our Solution: </a:t>
            </a:r>
            <a:r>
              <a:rPr lang="en-US" sz="1800" dirty="0">
                <a:latin typeface="+mn-lt"/>
              </a:rPr>
              <a:t>Implement a</a:t>
            </a:r>
            <a:r>
              <a:rPr lang="en-US" sz="1800" dirty="0">
                <a:solidFill>
                  <a:srgbClr val="005BBB"/>
                </a:solidFill>
                <a:latin typeface="+mn-lt"/>
              </a:rPr>
              <a:t> </a:t>
            </a:r>
            <a:r>
              <a:rPr lang="en-US" sz="1800" b="1" dirty="0">
                <a:solidFill>
                  <a:srgbClr val="FF751F"/>
                </a:solidFill>
                <a:latin typeface="+mn-lt"/>
              </a:rPr>
              <a:t>real-time autonomous ball-tracking system</a:t>
            </a:r>
            <a:r>
              <a:rPr lang="en-US" sz="1800" dirty="0">
                <a:latin typeface="+mn-lt"/>
              </a:rPr>
              <a:t> with sub-50ms latency using decoupled Computer Vision and motion control architecture to perform continuous behavioral following.</a:t>
            </a:r>
            <a:endParaRPr lang="en-US" sz="1800" spc="50" dirty="0">
              <a:latin typeface="+mn-lt"/>
            </a:endParaRPr>
          </a:p>
        </p:txBody>
      </p:sp>
      <p:sp>
        <p:nvSpPr>
          <p:cNvPr id="40" name="Conclusion Analysis Textbox"/>
          <p:cNvSpPr txBox="1"/>
          <p:nvPr/>
        </p:nvSpPr>
        <p:spPr>
          <a:xfrm>
            <a:off x="16505312" y="3166790"/>
            <a:ext cx="4868756" cy="305468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005BBB"/>
                </a:solidFill>
              </a:rPr>
              <a:t>Accomplishments</a:t>
            </a:r>
          </a:p>
          <a:p>
            <a:pPr marL="548640" indent="-285750" algn="just">
              <a:lnSpc>
                <a:spcPts val="23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ea typeface="ＭＳ Ｐゴシック" charset="-128"/>
              </a:rPr>
              <a:t>Enabled</a:t>
            </a:r>
            <a:r>
              <a:rPr lang="en-US" sz="2000" dirty="0"/>
              <a:t> real time, </a:t>
            </a:r>
            <a:r>
              <a:rPr lang="en-US" sz="2000" b="1" dirty="0">
                <a:solidFill>
                  <a:srgbClr val="FF751F"/>
                </a:solidFill>
              </a:rPr>
              <a:t>3D depth-based object tracking</a:t>
            </a:r>
          </a:p>
          <a:p>
            <a:pPr marL="548640" indent="-285750" algn="just">
              <a:lnSpc>
                <a:spcPts val="23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ea typeface="Arial" charset="0"/>
                <a:cs typeface="Arial" charset="0"/>
              </a:rPr>
              <a:t>Closed loop object detection and motion control behavior</a:t>
            </a:r>
          </a:p>
          <a:p>
            <a:pPr marL="548640" indent="-285750" algn="just">
              <a:lnSpc>
                <a:spcPts val="23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ea typeface="Arial" charset="0"/>
                <a:cs typeface="Arial" charset="0"/>
              </a:rPr>
              <a:t>Averaging </a:t>
            </a:r>
            <a:r>
              <a:rPr lang="en-US" sz="2000" b="1" dirty="0">
                <a:solidFill>
                  <a:srgbClr val="FF751F"/>
                </a:solidFill>
                <a:ea typeface="Arial" charset="0"/>
                <a:cs typeface="Arial" charset="0"/>
              </a:rPr>
              <a:t>48ms latency </a:t>
            </a:r>
            <a:r>
              <a:rPr lang="en-US" sz="2000" dirty="0">
                <a:ea typeface="Arial" charset="0"/>
                <a:cs typeface="Arial" charset="0"/>
              </a:rPr>
              <a:t>(Worst case 61ms)</a:t>
            </a:r>
          </a:p>
          <a:p>
            <a:pPr marL="548640" indent="-285750" algn="just">
              <a:lnSpc>
                <a:spcPts val="23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ea typeface="Arial" charset="0"/>
                <a:cs typeface="Arial" charset="0"/>
              </a:rPr>
              <a:t>Robust and </a:t>
            </a:r>
            <a:r>
              <a:rPr lang="en-US" sz="2000" b="1" dirty="0">
                <a:solidFill>
                  <a:srgbClr val="FF751F"/>
                </a:solidFill>
                <a:ea typeface="Arial" charset="0"/>
                <a:cs typeface="Arial" charset="0"/>
              </a:rPr>
              <a:t>works in multiple environments and lighting</a:t>
            </a:r>
            <a:r>
              <a:rPr lang="en-US" sz="2000" dirty="0">
                <a:ea typeface="Arial" charset="0"/>
                <a:cs typeface="Arial" charset="0"/>
              </a:rPr>
              <a:t>.</a:t>
            </a:r>
          </a:p>
        </p:txBody>
      </p:sp>
      <p:sp>
        <p:nvSpPr>
          <p:cNvPr id="23" name="References Textbox"/>
          <p:cNvSpPr txBox="1"/>
          <p:nvPr/>
        </p:nvSpPr>
        <p:spPr>
          <a:xfrm>
            <a:off x="16462631" y="13144754"/>
            <a:ext cx="4868756" cy="874407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1900"/>
              </a:lnSpc>
              <a:spcAft>
                <a:spcPts val="600"/>
              </a:spcAft>
              <a:buClr>
                <a:schemeClr val="tx2"/>
              </a:buClr>
              <a:defRPr/>
            </a:pPr>
            <a:r>
              <a:rPr lang="en-US" sz="2000" b="1" dirty="0">
                <a:solidFill>
                  <a:srgbClr val="005BBB"/>
                </a:solidFill>
                <a:latin typeface="+mj-lt"/>
              </a:rPr>
              <a:t>References</a:t>
            </a:r>
            <a:r>
              <a:rPr lang="en-US" sz="1800" b="1" dirty="0">
                <a:solidFill>
                  <a:srgbClr val="005BBB"/>
                </a:solidFill>
                <a:latin typeface="+mj-lt"/>
              </a:rPr>
              <a:t>:</a:t>
            </a:r>
            <a:br>
              <a:rPr lang="en-US" sz="2400" b="1" dirty="0">
                <a:solidFill>
                  <a:srgbClr val="005BBB"/>
                </a:solidFill>
                <a:latin typeface="+mj-lt"/>
              </a:rPr>
            </a:br>
            <a:r>
              <a:rPr lang="en-US" sz="1200" dirty="0">
                <a:solidFill>
                  <a:schemeClr val="tx1">
                    <a:lumMod val="50000"/>
                  </a:schemeClr>
                </a:solidFill>
                <a:hlinkClick r:id="rId4"/>
              </a:rPr>
              <a:t>https://github.com/unitreerobotics/unitree_sdk2</a:t>
            </a:r>
            <a:endParaRPr lang="en-US" sz="12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ts val="1900"/>
              </a:lnSpc>
              <a:spcAft>
                <a:spcPts val="600"/>
              </a:spcAft>
              <a:buClr>
                <a:schemeClr val="tx2"/>
              </a:buClr>
              <a:defRPr/>
            </a:pPr>
            <a:endParaRPr lang="en-US" sz="1200" dirty="0">
              <a:solidFill>
                <a:schemeClr val="tx1">
                  <a:lumMod val="50000"/>
                </a:schemeClr>
              </a:solidFill>
              <a:ea typeface="Arial" charset="0"/>
              <a:cs typeface="Arial" charset="0"/>
            </a:endParaRPr>
          </a:p>
        </p:txBody>
      </p:sp>
      <p:sp>
        <p:nvSpPr>
          <p:cNvPr id="94" name="Contact Information Textbox"/>
          <p:cNvSpPr/>
          <p:nvPr/>
        </p:nvSpPr>
        <p:spPr>
          <a:xfrm>
            <a:off x="16575353" y="15450804"/>
            <a:ext cx="5518929" cy="7480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/>
            </a:pPr>
            <a:r>
              <a:rPr lang="en-US" altLang="en-US" sz="1400" dirty="0">
                <a:solidFill>
                  <a:schemeClr val="bg1"/>
                </a:solidFill>
                <a:ea typeface="Arial" charset="0"/>
              </a:rPr>
              <a:t>Department of Computer Science &amp; Engineering </a:t>
            </a:r>
            <a:br>
              <a:rPr lang="en-US" altLang="en-US" sz="1400" dirty="0">
                <a:solidFill>
                  <a:schemeClr val="bg1"/>
                </a:solidFill>
                <a:ea typeface="Arial" charset="0"/>
              </a:rPr>
            </a:br>
            <a:r>
              <a:rPr lang="en-US" altLang="en-US" sz="1400" dirty="0">
                <a:solidFill>
                  <a:schemeClr val="bg1"/>
                </a:solidFill>
                <a:ea typeface="Arial" charset="0"/>
              </a:rPr>
              <a:t>School of Engineering &amp; Applied Sciences</a:t>
            </a:r>
          </a:p>
          <a:p>
            <a:pPr>
              <a:spcAft>
                <a:spcPts val="400"/>
              </a:spcAft>
              <a:defRPr/>
            </a:pPr>
            <a:r>
              <a:rPr lang="en-US" sz="1200" b="1" dirty="0">
                <a:solidFill>
                  <a:schemeClr val="bg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aprabhu5@buffalo.edu</a:t>
            </a:r>
            <a:r>
              <a:rPr lang="en-US" sz="1200" b="1" dirty="0">
                <a:solidFill>
                  <a:schemeClr val="bg2"/>
                </a:solidFill>
              </a:rPr>
              <a:t> | </a:t>
            </a:r>
            <a:r>
              <a:rPr lang="en-US" sz="1200" b="1" dirty="0">
                <a:solidFill>
                  <a:schemeClr val="bg2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sahilshi@buffalo.edu</a:t>
            </a:r>
            <a:r>
              <a:rPr lang="en-US" sz="1200" b="1" dirty="0">
                <a:solidFill>
                  <a:schemeClr val="bg2"/>
                </a:solidFill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0E1C7B-6E1F-6C91-C198-630131379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19456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References Textbox">
            <a:extLst>
              <a:ext uri="{FF2B5EF4-FFF2-40B4-BE49-F238E27FC236}">
                <a16:creationId xmlns:a16="http://schemas.microsoft.com/office/drawing/2014/main" id="{84F807F4-DBE9-6755-38B5-9282A8626F9B}"/>
              </a:ext>
            </a:extLst>
          </p:cNvPr>
          <p:cNvSpPr txBox="1"/>
          <p:nvPr/>
        </p:nvSpPr>
        <p:spPr>
          <a:xfrm>
            <a:off x="16563620" y="14344719"/>
            <a:ext cx="4868756" cy="36933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/>
            </a:pPr>
            <a:endParaRPr lang="en-US" sz="1800" dirty="0"/>
          </a:p>
        </p:txBody>
      </p:sp>
      <p:sp>
        <p:nvSpPr>
          <p:cNvPr id="11" name="References Textbox">
            <a:extLst>
              <a:ext uri="{FF2B5EF4-FFF2-40B4-BE49-F238E27FC236}">
                <a16:creationId xmlns:a16="http://schemas.microsoft.com/office/drawing/2014/main" id="{2CB76973-CB7E-82C6-ED5E-531FD9AED24B}"/>
              </a:ext>
            </a:extLst>
          </p:cNvPr>
          <p:cNvSpPr txBox="1"/>
          <p:nvPr/>
        </p:nvSpPr>
        <p:spPr>
          <a:xfrm>
            <a:off x="16530994" y="14196961"/>
            <a:ext cx="4868756" cy="584775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/>
                </a:solidFill>
              </a:rPr>
              <a:t>Acknowledgments:</a:t>
            </a:r>
          </a:p>
          <a:p>
            <a:r>
              <a:rPr lang="en-US" sz="1200" dirty="0">
                <a:solidFill>
                  <a:schemeClr val="tx2"/>
                </a:solidFill>
              </a:rPr>
              <a:t>A2IL Lab, University at Buffalo | Lab advisors</a:t>
            </a:r>
            <a:endParaRPr lang="en-US" sz="1200" dirty="0">
              <a:solidFill>
                <a:schemeClr val="tx2"/>
              </a:solidFill>
              <a:effectLst/>
            </a:endParaRPr>
          </a:p>
        </p:txBody>
      </p:sp>
      <p:pic>
        <p:nvPicPr>
          <p:cNvPr id="13" name="Picture 12" descr="A blue rectangular signs with white text&#10;&#10;AI-generated content may be incorrect.">
            <a:extLst>
              <a:ext uri="{FF2B5EF4-FFF2-40B4-BE49-F238E27FC236}">
                <a16:creationId xmlns:a16="http://schemas.microsoft.com/office/drawing/2014/main" id="{D6C64C52-0674-76D0-64FD-5CFFBEE0AC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6043" y="6717569"/>
            <a:ext cx="10759902" cy="60524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CDBE2E-0ABB-F9EE-2B77-3A074DB9EC8F}"/>
              </a:ext>
            </a:extLst>
          </p:cNvPr>
          <p:cNvSpPr txBox="1"/>
          <p:nvPr/>
        </p:nvSpPr>
        <p:spPr>
          <a:xfrm>
            <a:off x="5706043" y="13016843"/>
            <a:ext cx="5643022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spc="50" dirty="0">
                <a:solidFill>
                  <a:schemeClr val="tx2"/>
                </a:solidFill>
              </a:rPr>
              <a:t>State-Based Control System</a:t>
            </a:r>
            <a:endParaRPr lang="en-US" sz="2000" dirty="0"/>
          </a:p>
          <a:p>
            <a:pPr marL="548640" indent="-285750">
              <a:spcBef>
                <a:spcPts val="200"/>
              </a:spcBef>
              <a:buFont typeface="Arial" panose="020B0604020202020204" pitchFamily="34" charset="0"/>
              <a:buChar char="•"/>
              <a:defRPr sz="1000"/>
            </a:pPr>
            <a:r>
              <a:rPr lang="en-US" sz="1800" b="1" dirty="0">
                <a:solidFill>
                  <a:srgbClr val="FF751F"/>
                </a:solidFill>
              </a:rPr>
              <a:t>SEARCH</a:t>
            </a:r>
            <a:r>
              <a:rPr lang="en-US" sz="1800" dirty="0"/>
              <a:t>: Rotate to find ball (</a:t>
            </a:r>
            <a:r>
              <a:rPr lang="en-US" sz="1800" dirty="0" err="1"/>
              <a:t>vyaw</a:t>
            </a:r>
            <a:r>
              <a:rPr lang="en-US" sz="1800" dirty="0"/>
              <a:t>=0.4)</a:t>
            </a:r>
          </a:p>
          <a:p>
            <a:pPr marL="548640" indent="-285750">
              <a:spcBef>
                <a:spcPts val="200"/>
              </a:spcBef>
              <a:buFont typeface="Arial" panose="020B0604020202020204" pitchFamily="34" charset="0"/>
              <a:buChar char="•"/>
              <a:defRPr sz="1000"/>
            </a:pPr>
            <a:r>
              <a:rPr lang="en-US" sz="1800" b="1" dirty="0">
                <a:solidFill>
                  <a:srgbClr val="FF751F"/>
                </a:solidFill>
              </a:rPr>
              <a:t>APPROACH</a:t>
            </a:r>
            <a:r>
              <a:rPr lang="en-US" sz="1800" dirty="0"/>
              <a:t>: Fast forward (</a:t>
            </a:r>
            <a:r>
              <a:rPr lang="en-US" sz="1800" dirty="0" err="1"/>
              <a:t>vx</a:t>
            </a:r>
            <a:r>
              <a:rPr lang="en-US" sz="1800" dirty="0"/>
              <a:t>=0.30, d&gt;1.0m)</a:t>
            </a:r>
          </a:p>
          <a:p>
            <a:pPr marL="548640" indent="-285750">
              <a:spcBef>
                <a:spcPts val="200"/>
              </a:spcBef>
              <a:buFont typeface="Arial" panose="020B0604020202020204" pitchFamily="34" charset="0"/>
              <a:buChar char="•"/>
              <a:defRPr sz="1000"/>
            </a:pPr>
            <a:r>
              <a:rPr lang="en-US" sz="1800" b="1" dirty="0">
                <a:solidFill>
                  <a:srgbClr val="FF751F"/>
                </a:solidFill>
              </a:rPr>
              <a:t>CREEP</a:t>
            </a:r>
            <a:r>
              <a:rPr lang="en-US" sz="1800" dirty="0"/>
              <a:t>: Slow precision (</a:t>
            </a:r>
            <a:r>
              <a:rPr lang="en-US" sz="1800" dirty="0" err="1"/>
              <a:t>vx</a:t>
            </a:r>
            <a:r>
              <a:rPr lang="en-US" sz="1800" dirty="0"/>
              <a:t>=0.15, d&lt;1.0m)</a:t>
            </a:r>
          </a:p>
          <a:p>
            <a:pPr marL="548640" indent="-285750">
              <a:spcBef>
                <a:spcPts val="200"/>
              </a:spcBef>
              <a:buFont typeface="Arial" panose="020B0604020202020204" pitchFamily="34" charset="0"/>
              <a:buChar char="•"/>
              <a:defRPr sz="1000"/>
            </a:pPr>
            <a:r>
              <a:rPr lang="en-US" sz="1800" b="1" dirty="0">
                <a:solidFill>
                  <a:srgbClr val="FF751F"/>
                </a:solidFill>
              </a:rPr>
              <a:t>HOLD</a:t>
            </a:r>
            <a:r>
              <a:rPr lang="en-US" sz="1800" dirty="0"/>
              <a:t>: Maintain target (</a:t>
            </a:r>
            <a:r>
              <a:rPr lang="en-US" sz="1800" dirty="0" err="1"/>
              <a:t>vx</a:t>
            </a:r>
            <a:r>
              <a:rPr lang="en-US" sz="1800" dirty="0"/>
              <a:t>=0, 0.15m&lt;d&lt;0.5m)</a:t>
            </a:r>
          </a:p>
          <a:p>
            <a:pPr marL="548640" indent="-285750">
              <a:spcBef>
                <a:spcPts val="200"/>
              </a:spcBef>
              <a:buFont typeface="Arial" panose="020B0604020202020204" pitchFamily="34" charset="0"/>
              <a:buChar char="•"/>
              <a:defRPr sz="1000"/>
            </a:pPr>
            <a:r>
              <a:rPr lang="en-US" sz="1800" b="1" dirty="0">
                <a:solidFill>
                  <a:srgbClr val="FF751F"/>
                </a:solidFill>
              </a:rPr>
              <a:t>BACKUP</a:t>
            </a:r>
            <a:r>
              <a:rPr lang="en-US" sz="1800" dirty="0"/>
              <a:t>: Safety reverse (</a:t>
            </a:r>
            <a:r>
              <a:rPr lang="en-US" sz="1800" dirty="0" err="1"/>
              <a:t>vx</a:t>
            </a:r>
            <a:r>
              <a:rPr lang="en-US" sz="1800" dirty="0"/>
              <a:t>=-0.15, d&lt;0.15m)</a:t>
            </a:r>
          </a:p>
        </p:txBody>
      </p:sp>
      <p:sp>
        <p:nvSpPr>
          <p:cNvPr id="3" name="Conclusion Analysis Textbox">
            <a:extLst>
              <a:ext uri="{FF2B5EF4-FFF2-40B4-BE49-F238E27FC236}">
                <a16:creationId xmlns:a16="http://schemas.microsoft.com/office/drawing/2014/main" id="{1ED1921A-EA75-AE3E-5147-0CFA7C4683AE}"/>
              </a:ext>
            </a:extLst>
          </p:cNvPr>
          <p:cNvSpPr txBox="1"/>
          <p:nvPr/>
        </p:nvSpPr>
        <p:spPr>
          <a:xfrm>
            <a:off x="16575353" y="8467992"/>
            <a:ext cx="4892760" cy="1972335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005BBB"/>
                </a:solidFill>
              </a:rPr>
              <a:t>Future Applications and Scope</a:t>
            </a:r>
          </a:p>
          <a:p>
            <a:pPr marL="54864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charset="-128"/>
              </a:rPr>
              <a:t>Enhanced multi target tracking </a:t>
            </a:r>
          </a:p>
          <a:p>
            <a:pPr marL="548640" indent="-285750">
              <a:buFont typeface="Arial" panose="020B0604020202020204" pitchFamily="34" charset="0"/>
              <a:buChar char="•"/>
            </a:pPr>
            <a:r>
              <a:rPr lang="en-US" sz="2000" dirty="0"/>
              <a:t>Voice-Guided Tracking &amp; </a:t>
            </a:r>
            <a:r>
              <a:rPr lang="en-US" sz="2000" dirty="0" err="1"/>
              <a:t>Relocalisation</a:t>
            </a:r>
            <a:endParaRPr lang="en-US" sz="2000" dirty="0"/>
          </a:p>
          <a:p>
            <a:pPr marL="548640" indent="-285750" algn="just">
              <a:buFont typeface="Arial" panose="020B0604020202020204" pitchFamily="34" charset="0"/>
              <a:buChar char="•"/>
            </a:pPr>
            <a:r>
              <a:rPr lang="en-US" sz="2000" dirty="0">
                <a:ea typeface="ＭＳ Ｐゴシック" charset="-128"/>
              </a:rPr>
              <a:t>Challenging Environments</a:t>
            </a:r>
          </a:p>
          <a:p>
            <a:endParaRPr lang="en-US" sz="1800" dirty="0"/>
          </a:p>
        </p:txBody>
      </p:sp>
      <p:sp>
        <p:nvSpPr>
          <p:cNvPr id="8" name="Introduction Textbox">
            <a:extLst>
              <a:ext uri="{FF2B5EF4-FFF2-40B4-BE49-F238E27FC236}">
                <a16:creationId xmlns:a16="http://schemas.microsoft.com/office/drawing/2014/main" id="{FA097ED4-A9C6-C58F-E7DE-9CC1C9CB5F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7051" y="10373991"/>
            <a:ext cx="5150098" cy="2839239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1pPr>
            <a:lvl2pPr marL="742950" indent="-28575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2pPr>
            <a:lvl3pPr marL="11430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3pPr>
            <a:lvl4pPr marL="16002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4pPr>
            <a:lvl5pPr marL="2057400" indent="-228600"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900">
                <a:solidFill>
                  <a:schemeClr val="tx1"/>
                </a:solidFill>
                <a:latin typeface="Arial Narrow" charset="0"/>
                <a:ea typeface="ＭＳ Ｐゴシック" charset="-128"/>
              </a:defRPr>
            </a:lvl9pPr>
          </a:lstStyle>
          <a:p>
            <a:pPr algn="just"/>
            <a:r>
              <a:rPr lang="en-US" sz="2000" b="1" dirty="0">
                <a:solidFill>
                  <a:schemeClr val="tx2"/>
                </a:solidFill>
                <a:latin typeface="+mn-lt"/>
              </a:rPr>
              <a:t>Why it matters:</a:t>
            </a:r>
          </a:p>
          <a:p>
            <a:pPr marL="54864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Search and Rescue operations</a:t>
            </a:r>
          </a:p>
          <a:p>
            <a:pPr marL="54864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Service Robotics</a:t>
            </a:r>
          </a:p>
          <a:p>
            <a:pPr marL="54864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</a:rPr>
              <a:t>Warehouse Automation</a:t>
            </a:r>
          </a:p>
          <a:p>
            <a:pPr>
              <a:spcBef>
                <a:spcPts val="300"/>
              </a:spcBef>
              <a:defRPr sz="1100"/>
            </a:pPr>
            <a:r>
              <a:rPr lang="en-US" sz="2000" b="1" dirty="0">
                <a:solidFill>
                  <a:schemeClr val="tx2"/>
                </a:solidFill>
                <a:latin typeface="+mn-lt"/>
              </a:rPr>
              <a:t>Key Objectives:</a:t>
            </a:r>
          </a:p>
          <a:p>
            <a:pPr marL="548640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 sz="1100"/>
            </a:pPr>
            <a:r>
              <a:rPr lang="en-US" sz="1800" dirty="0">
                <a:latin typeface="+mn-lt"/>
              </a:rPr>
              <a:t>Real-time 3D depth-based object tracking</a:t>
            </a:r>
          </a:p>
          <a:p>
            <a:pPr marL="548640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 sz="1100"/>
            </a:pPr>
            <a:r>
              <a:rPr lang="en-US" sz="1800" dirty="0">
                <a:latin typeface="+mn-lt"/>
              </a:rPr>
              <a:t>Seamless Computer Vision &amp; Robot Motion</a:t>
            </a:r>
          </a:p>
          <a:p>
            <a:pPr marL="548640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 sz="1100"/>
            </a:pPr>
            <a:r>
              <a:rPr lang="en-US" sz="1800" dirty="0">
                <a:latin typeface="+mn-lt"/>
              </a:rPr>
              <a:t>Low latency control loop</a:t>
            </a:r>
          </a:p>
          <a:p>
            <a:pPr marL="548640" indent="-285750" algn="just">
              <a:spcBef>
                <a:spcPts val="300"/>
              </a:spcBef>
              <a:buFont typeface="Arial" panose="020B0604020202020204" pitchFamily="34" charset="0"/>
              <a:buChar char="•"/>
              <a:defRPr sz="1100"/>
            </a:pPr>
            <a:r>
              <a:rPr lang="en-US" sz="1800" dirty="0">
                <a:latin typeface="+mn-lt"/>
              </a:rPr>
              <a:t>Operational Stability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D0FC54-32A2-CAA6-BB54-B984BDDF0519}"/>
              </a:ext>
            </a:extLst>
          </p:cNvPr>
          <p:cNvSpPr txBox="1"/>
          <p:nvPr/>
        </p:nvSpPr>
        <p:spPr>
          <a:xfrm>
            <a:off x="5804214" y="5835097"/>
            <a:ext cx="1036297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spc="50" dirty="0">
                <a:solidFill>
                  <a:schemeClr val="tx2"/>
                </a:solidFill>
              </a:rPr>
              <a:t>Our Methodology</a:t>
            </a:r>
          </a:p>
          <a:p>
            <a:r>
              <a:rPr lang="en-US" sz="2000" dirty="0">
                <a:ea typeface="ＭＳ Ｐゴシック" charset="-128"/>
              </a:rPr>
              <a:t>Camera → Quantized Yolov8n →State Machine → Motion Commands → Robot moves, updating the camera</a:t>
            </a:r>
          </a:p>
        </p:txBody>
      </p:sp>
      <p:sp>
        <p:nvSpPr>
          <p:cNvPr id="19" name="Conclusion Analysis Textbox">
            <a:extLst>
              <a:ext uri="{FF2B5EF4-FFF2-40B4-BE49-F238E27FC236}">
                <a16:creationId xmlns:a16="http://schemas.microsoft.com/office/drawing/2014/main" id="{2ACABBDE-E085-DE0E-A76D-79663B4348AB}"/>
              </a:ext>
            </a:extLst>
          </p:cNvPr>
          <p:cNvSpPr txBox="1"/>
          <p:nvPr/>
        </p:nvSpPr>
        <p:spPr>
          <a:xfrm>
            <a:off x="16575353" y="6352466"/>
            <a:ext cx="4780038" cy="1874872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005BBB"/>
                </a:solidFill>
              </a:rPr>
              <a:t>Limitations</a:t>
            </a:r>
          </a:p>
          <a:p>
            <a:pPr marL="548640" indent="-285750" algn="just">
              <a:lnSpc>
                <a:spcPts val="23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ea typeface="ＭＳ Ｐゴシック" charset="-128"/>
              </a:rPr>
              <a:t>Detection range constraints</a:t>
            </a:r>
          </a:p>
          <a:p>
            <a:pPr marL="548640" indent="-285750" algn="just">
              <a:lnSpc>
                <a:spcPts val="23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ea typeface="ＭＳ Ｐゴシック" charset="-128"/>
              </a:rPr>
              <a:t>Camera Field of View Restrictions</a:t>
            </a:r>
          </a:p>
          <a:p>
            <a:pPr marL="548640" indent="-285750" algn="just">
              <a:lnSpc>
                <a:spcPts val="23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ea typeface="ＭＳ Ｐゴシック" charset="-128"/>
              </a:rPr>
              <a:t>Occlusion</a:t>
            </a:r>
          </a:p>
          <a:p>
            <a:pPr marL="548640" indent="-285750" algn="just">
              <a:lnSpc>
                <a:spcPts val="23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ea typeface="ＭＳ Ｐゴシック" charset="-128"/>
              </a:rPr>
              <a:t>Motion Blur</a:t>
            </a:r>
          </a:p>
        </p:txBody>
      </p:sp>
      <p:sp>
        <p:nvSpPr>
          <p:cNvPr id="22" name="Conclusion Analysis Textbox">
            <a:extLst>
              <a:ext uri="{FF2B5EF4-FFF2-40B4-BE49-F238E27FC236}">
                <a16:creationId xmlns:a16="http://schemas.microsoft.com/office/drawing/2014/main" id="{DA4196DA-F2CB-EF38-4F63-8AB75CAC017F}"/>
              </a:ext>
            </a:extLst>
          </p:cNvPr>
          <p:cNvSpPr txBox="1"/>
          <p:nvPr/>
        </p:nvSpPr>
        <p:spPr>
          <a:xfrm>
            <a:off x="16539616" y="10493856"/>
            <a:ext cx="5042246" cy="2587888"/>
          </a:xfrm>
          <a:prstGeom prst="rect">
            <a:avLst/>
          </a:prstGeom>
          <a:solidFill>
            <a:schemeClr val="bg1">
              <a:alpha val="63000"/>
            </a:schemeClr>
          </a:solidFill>
          <a:effectLst/>
        </p:spPr>
        <p:txBody>
          <a:bodyPr wrap="square">
            <a:spAutoFit/>
          </a:bodyPr>
          <a:lstStyle/>
          <a:p>
            <a:pPr>
              <a:lnSpc>
                <a:spcPts val="2300"/>
              </a:lnSpc>
              <a:spcAft>
                <a:spcPts val="600"/>
              </a:spcAft>
              <a:defRPr/>
            </a:pPr>
            <a:r>
              <a:rPr lang="en-US" sz="2000" b="1" dirty="0">
                <a:solidFill>
                  <a:srgbClr val="005BBB"/>
                </a:solidFill>
              </a:rPr>
              <a:t>Learning Outcomes</a:t>
            </a:r>
          </a:p>
          <a:p>
            <a:pPr marL="457200" indent="-285750">
              <a:buFont typeface="Arial" panose="020B0604020202020204" pitchFamily="34" charset="0"/>
              <a:buChar char="•"/>
            </a:pPr>
            <a:r>
              <a:rPr lang="en-US" sz="2000" dirty="0"/>
              <a:t>Facilitating Models on Edge Devices</a:t>
            </a:r>
          </a:p>
          <a:p>
            <a:pPr marL="457200" indent="-285750">
              <a:buFont typeface="Arial" panose="020B0604020202020204" pitchFamily="34" charset="0"/>
              <a:buChar char="•"/>
            </a:pPr>
            <a:r>
              <a:rPr lang="en-US" sz="2000" dirty="0"/>
              <a:t>System Design and Architectures for robots</a:t>
            </a:r>
          </a:p>
          <a:p>
            <a:pPr marL="457200" indent="-285750">
              <a:buFont typeface="Arial" panose="020B0604020202020204" pitchFamily="34" charset="0"/>
              <a:buChar char="•"/>
            </a:pPr>
            <a:r>
              <a:rPr lang="en-US" sz="2000" dirty="0"/>
              <a:t>Hardware Integration</a:t>
            </a:r>
          </a:p>
          <a:p>
            <a:pPr marL="457200" indent="-285750">
              <a:buFont typeface="Arial" panose="020B0604020202020204" pitchFamily="34" charset="0"/>
              <a:buChar char="•"/>
            </a:pPr>
            <a:r>
              <a:rPr lang="en-US" sz="2000" dirty="0"/>
              <a:t>Network Management</a:t>
            </a:r>
          </a:p>
          <a:p>
            <a:pPr marL="457200" indent="-285750">
              <a:buFont typeface="Arial" panose="020B0604020202020204" pitchFamily="34" charset="0"/>
              <a:buChar char="•"/>
            </a:pPr>
            <a:r>
              <a:rPr lang="en-US" sz="2000" dirty="0"/>
              <a:t>End-to-End Deployment</a:t>
            </a:r>
          </a:p>
          <a:p>
            <a:endParaRPr lang="en-US" sz="1800" dirty="0"/>
          </a:p>
        </p:txBody>
      </p:sp>
      <p:cxnSp>
        <p:nvCxnSpPr>
          <p:cNvPr id="24" name="Horizontal Section Divider" descr="Horizontal Divider">
            <a:extLst>
              <a:ext uri="{FF2B5EF4-FFF2-40B4-BE49-F238E27FC236}">
                <a16:creationId xmlns:a16="http://schemas.microsoft.com/office/drawing/2014/main" id="{98BF94BB-8BD5-448D-265B-57F3F58E0F86}"/>
              </a:ext>
            </a:extLst>
          </p:cNvPr>
          <p:cNvCxnSpPr>
            <a:cxnSpLocks/>
          </p:cNvCxnSpPr>
          <p:nvPr/>
        </p:nvCxnSpPr>
        <p:spPr bwMode="auto">
          <a:xfrm>
            <a:off x="16552952" y="13000300"/>
            <a:ext cx="4714786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Horizontal Section Divider" descr="Horizontal Divider">
            <a:extLst>
              <a:ext uri="{FF2B5EF4-FFF2-40B4-BE49-F238E27FC236}">
                <a16:creationId xmlns:a16="http://schemas.microsoft.com/office/drawing/2014/main" id="{386E0CB4-1928-1637-E7EE-0DFE0C6D7804}"/>
              </a:ext>
            </a:extLst>
          </p:cNvPr>
          <p:cNvCxnSpPr>
            <a:cxnSpLocks/>
          </p:cNvCxnSpPr>
          <p:nvPr/>
        </p:nvCxnSpPr>
        <p:spPr bwMode="auto">
          <a:xfrm>
            <a:off x="5819498" y="5772121"/>
            <a:ext cx="10141603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Horizontal Section Divider" descr="Horizontal Divider">
            <a:extLst>
              <a:ext uri="{FF2B5EF4-FFF2-40B4-BE49-F238E27FC236}">
                <a16:creationId xmlns:a16="http://schemas.microsoft.com/office/drawing/2014/main" id="{FB029E7A-984B-5732-1CFB-ECF78D094A2B}"/>
              </a:ext>
            </a:extLst>
          </p:cNvPr>
          <p:cNvCxnSpPr>
            <a:cxnSpLocks/>
          </p:cNvCxnSpPr>
          <p:nvPr/>
        </p:nvCxnSpPr>
        <p:spPr bwMode="auto">
          <a:xfrm>
            <a:off x="16640605" y="6221472"/>
            <a:ext cx="4714786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3" name="Horizontal Section Divider" descr="Horizontal Divider">
            <a:extLst>
              <a:ext uri="{FF2B5EF4-FFF2-40B4-BE49-F238E27FC236}">
                <a16:creationId xmlns:a16="http://schemas.microsoft.com/office/drawing/2014/main" id="{88BE99BD-D3E0-0424-D90C-E79405FDC646}"/>
              </a:ext>
            </a:extLst>
          </p:cNvPr>
          <p:cNvCxnSpPr>
            <a:cxnSpLocks/>
          </p:cNvCxnSpPr>
          <p:nvPr/>
        </p:nvCxnSpPr>
        <p:spPr bwMode="auto">
          <a:xfrm>
            <a:off x="16575353" y="8336997"/>
            <a:ext cx="4714786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4" name="Horizontal Section Divider" descr="Horizontal Divider">
            <a:extLst>
              <a:ext uri="{FF2B5EF4-FFF2-40B4-BE49-F238E27FC236}">
                <a16:creationId xmlns:a16="http://schemas.microsoft.com/office/drawing/2014/main" id="{C5850F03-E906-33A1-86A8-5C8CBDB0F4F1}"/>
              </a:ext>
            </a:extLst>
          </p:cNvPr>
          <p:cNvCxnSpPr>
            <a:cxnSpLocks/>
          </p:cNvCxnSpPr>
          <p:nvPr/>
        </p:nvCxnSpPr>
        <p:spPr bwMode="auto">
          <a:xfrm>
            <a:off x="16539616" y="10318197"/>
            <a:ext cx="4714786" cy="0"/>
          </a:xfrm>
          <a:prstGeom prst="line">
            <a:avLst/>
          </a:prstGeom>
          <a:noFill/>
          <a:ln w="158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14" name="Picture 13" descr="A grey robot with a white background&#10;&#10;AI-generated content may be incorrect.">
            <a:extLst>
              <a:ext uri="{FF2B5EF4-FFF2-40B4-BE49-F238E27FC236}">
                <a16:creationId xmlns:a16="http://schemas.microsoft.com/office/drawing/2014/main" id="{9BEF7678-AC1A-CC0D-A945-B5C5580BEE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218680">
            <a:off x="12980468" y="13397206"/>
            <a:ext cx="1280765" cy="2049224"/>
          </a:xfrm>
          <a:prstGeom prst="rect">
            <a:avLst/>
          </a:prstGeom>
        </p:spPr>
      </p:pic>
      <p:sp>
        <p:nvSpPr>
          <p:cNvPr id="16" name="Arrow: Curved Up 15">
            <a:extLst>
              <a:ext uri="{FF2B5EF4-FFF2-40B4-BE49-F238E27FC236}">
                <a16:creationId xmlns:a16="http://schemas.microsoft.com/office/drawing/2014/main" id="{F9FBA12A-422E-9ACE-3343-AAA05DB58719}"/>
              </a:ext>
            </a:extLst>
          </p:cNvPr>
          <p:cNvSpPr/>
          <p:nvPr/>
        </p:nvSpPr>
        <p:spPr>
          <a:xfrm rot="10605554">
            <a:off x="13105258" y="13093078"/>
            <a:ext cx="1422771" cy="731520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E076E881-EE0B-9962-FD1E-37FF62741665}"/>
              </a:ext>
            </a:extLst>
          </p:cNvPr>
          <p:cNvSpPr/>
          <p:nvPr/>
        </p:nvSpPr>
        <p:spPr>
          <a:xfrm rot="16200000">
            <a:off x="11244341" y="14067534"/>
            <a:ext cx="334279" cy="60389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BC8630-A0FC-9F3F-6958-D40DFF44B4E3}"/>
              </a:ext>
            </a:extLst>
          </p:cNvPr>
          <p:cNvSpPr txBox="1"/>
          <p:nvPr/>
        </p:nvSpPr>
        <p:spPr>
          <a:xfrm>
            <a:off x="13337916" y="12724299"/>
            <a:ext cx="10470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SEARCH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924381-7D32-4EF7-38F9-DEEE65C25FB0}"/>
              </a:ext>
            </a:extLst>
          </p:cNvPr>
          <p:cNvSpPr txBox="1"/>
          <p:nvPr/>
        </p:nvSpPr>
        <p:spPr>
          <a:xfrm>
            <a:off x="15144059" y="14230983"/>
            <a:ext cx="10583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BACKUP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E1061E-1970-251E-02CC-52DFDF613C07}"/>
              </a:ext>
            </a:extLst>
          </p:cNvPr>
          <p:cNvSpPr txBox="1"/>
          <p:nvPr/>
        </p:nvSpPr>
        <p:spPr>
          <a:xfrm>
            <a:off x="11409750" y="14166304"/>
            <a:ext cx="1602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APPROACH/</a:t>
            </a:r>
            <a:br>
              <a:rPr lang="en-US" sz="1200" b="1" dirty="0"/>
            </a:br>
            <a:r>
              <a:rPr lang="en-US" sz="1200" b="1" dirty="0"/>
              <a:t>CREEP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61E7A6-0F28-8968-0518-60C434B9509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14780" r="1272"/>
          <a:stretch>
            <a:fillRect/>
          </a:stretch>
        </p:blipFill>
        <p:spPr>
          <a:xfrm>
            <a:off x="479585" y="13339070"/>
            <a:ext cx="2201215" cy="1498597"/>
          </a:xfrm>
          <a:prstGeom prst="rect">
            <a:avLst/>
          </a:prstGeom>
        </p:spPr>
      </p:pic>
      <p:sp>
        <p:nvSpPr>
          <p:cNvPr id="10" name="Arrow: Up 9">
            <a:extLst>
              <a:ext uri="{FF2B5EF4-FFF2-40B4-BE49-F238E27FC236}">
                <a16:creationId xmlns:a16="http://schemas.microsoft.com/office/drawing/2014/main" id="{7C7B4802-A99A-D433-E6F1-4EFD06BE1D76}"/>
              </a:ext>
            </a:extLst>
          </p:cNvPr>
          <p:cNvSpPr/>
          <p:nvPr/>
        </p:nvSpPr>
        <p:spPr>
          <a:xfrm rot="5400000">
            <a:off x="14812244" y="14069666"/>
            <a:ext cx="334279" cy="60389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8B382FA-C436-93A6-7730-C42CB51D08C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1669" y="13339802"/>
            <a:ext cx="2439044" cy="149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65799"/>
      </p:ext>
    </p:extLst>
  </p:cSld>
  <p:clrMapOvr>
    <a:masterClrMapping/>
  </p:clrMapOvr>
</p:sld>
</file>

<file path=ppt/theme/theme1.xml><?xml version="1.0" encoding="utf-8"?>
<a:theme xmlns:a="http://schemas.openxmlformats.org/drawingml/2006/main" name="Research Poster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ST Accessible" id="{BC02AB42-924F-614D-9F02-5DAD031142A4}" vid="{CEC2668D-C73A-D648-809C-2002B42E64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Research Poster Template</Template>
  <TotalTime>3009</TotalTime>
  <Words>416</Words>
  <Application>Microsoft Office PowerPoint</Application>
  <PresentationFormat>Custom</PresentationFormat>
  <Paragraphs>58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ＭＳ Ｐゴシック</vt:lpstr>
      <vt:lpstr>Arial</vt:lpstr>
      <vt:lpstr>Calibri</vt:lpstr>
      <vt:lpstr>System Font Regular</vt:lpstr>
      <vt:lpstr>Research Poster Template</vt:lpstr>
      <vt:lpstr>PowerPoint Presentation</vt:lpstr>
    </vt:vector>
  </TitlesOfParts>
  <Manager/>
  <Company/>
  <LinksUpToDate>false</LinksUpToDate>
  <SharedDoc>false</SharedDoc>
  <HyperlinkBase>www.buffalo.edu/brand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Sahil Sawant</cp:lastModifiedBy>
  <cp:revision>32</cp:revision>
  <cp:lastPrinted>2018-07-27T15:05:13Z</cp:lastPrinted>
  <dcterms:created xsi:type="dcterms:W3CDTF">2019-03-28T18:35:19Z</dcterms:created>
  <dcterms:modified xsi:type="dcterms:W3CDTF">2025-12-04T05:36:49Z</dcterms:modified>
  <cp:category/>
</cp:coreProperties>
</file>